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3657600"/>
          </a:xfrm>
          <a:prstGeom prst="ellipse">
            <a:avLst/>
          </a:prstGeom>
          <a:solidFill>
            <a:srgbClr val="764BA2">
              <a:alpha val="18000"/>
            </a:srgbClr>
          </a:solidFill>
          <a:ln w="12700">
            <a:solidFill>
              <a:srgbClr val="764BA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2743200"/>
          </a:xfrm>
          <a:prstGeom prst="ellipse">
            <a:avLst/>
          </a:prstGeom>
          <a:solidFill>
            <a:srgbClr val="667EEA">
              <a:alpha val="18000"/>
            </a:srgbClr>
          </a:solidFill>
          <a:ln w="12700">
            <a:solidFill>
              <a:srgbClr val="667E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3200400"/>
            <a:ext cx="2743200" cy="2286000"/>
          </a:xfrm>
          <a:prstGeom prst="ellipse">
            <a:avLst/>
          </a:prstGeom>
          <a:solidFill>
            <a:srgbClr val="FF6B6B">
              <a:alpha val="12000"/>
            </a:srgbClr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548640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764BA2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548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A78BFA"/>
                </a:solidFill>
              </a:rPr>
              <a:t>SAII ACM PROMPT ENGINEERING WORKSHOP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00400" y="10515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dirty="0">
                <a:solidFill>
                  <a:srgbClr val="000000"/>
                </a:solidFill>
              </a:rPr>
              <a:t>⚔️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Startup </a:t>
            </a:r>
            <a:pPr algn="ctr" indent="0" marL="0">
              <a:buNone/>
            </a:pPr>
            <a:r>
              <a:rPr lang="en-US" sz="5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Battle-Bot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1097280" y="306324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platform that roasts, validates &amp; transforms your business idea into investor-ready frameworks.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32688" y="3913632"/>
            <a:ext cx="1737360" cy="347472"/>
          </a:xfrm>
          <a:prstGeom prst="rect">
            <a:avLst/>
          </a:prstGeom>
          <a:solidFill>
            <a:srgbClr val="667EEA">
              <a:alpha val="30000"/>
            </a:srgbClr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9136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Gemini / Groq API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79776" y="3913632"/>
            <a:ext cx="1737360" cy="347472"/>
          </a:xfrm>
          <a:prstGeom prst="rect">
            <a:avLst/>
          </a:prstGeom>
          <a:solidFill>
            <a:srgbClr val="6BCB77">
              <a:alpha val="30000"/>
            </a:srgbClr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9776" y="39136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Streamlit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26864" y="3913632"/>
            <a:ext cx="1737360" cy="347472"/>
          </a:xfrm>
          <a:prstGeom prst="rect">
            <a:avLst/>
          </a:prstGeom>
          <a:solidFill>
            <a:srgbClr val="FFD93D">
              <a:alpha val="30000"/>
            </a:srgbClr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39136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ngrok Tunnel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73952" y="3913632"/>
            <a:ext cx="1737360" cy="347472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39136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Capstone Project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818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6080"/>
                </a:solidFill>
              </a:rPr>
              <a:t>Powered by Large Language Models  ·  Prompt Engineering  ·  Streamlit Secrets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3657600"/>
          </a:xfrm>
          <a:prstGeom prst="ellipse">
            <a:avLst/>
          </a:prstGeom>
          <a:solidFill>
            <a:srgbClr val="FF6B6B">
              <a:alpha val="12000"/>
            </a:srgbClr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92608"/>
            <a:ext cx="54864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6B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5303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most startup ideas never make it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1463040"/>
          </a:xfrm>
          <a:prstGeom prst="rect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515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90B0"/>
                </a:solidFill>
              </a:rPr>
              <a:t>of startups fail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6080"/>
                </a:solidFill>
              </a:rPr>
              <a:t>within the first 2 years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06040" cy="1051560"/>
          </a:xfrm>
          <a:prstGeom prst="rect">
            <a:avLst/>
          </a:prstGeom>
          <a:solidFill>
            <a:srgbClr val="1E1040"/>
          </a:solidFill>
          <a:ln w="12700">
            <a:solidFill>
              <a:srgbClr val="FF6B6B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0789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46120" y="138988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 Validation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46120" y="15910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B0"/>
                </a:solidFill>
              </a:rPr>
              <a:t>Founders build products nobody wants — no structured way to stress-test their idea early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80760" y="1005840"/>
            <a:ext cx="2606040" cy="1051560"/>
          </a:xfrm>
          <a:prstGeom prst="rect">
            <a:avLst/>
          </a:prstGeom>
          <a:solidFill>
            <a:srgbClr val="1E1040"/>
          </a:solidFill>
          <a:ln w="12700">
            <a:solidFill>
              <a:srgbClr val="FF6B6B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0789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080760" y="138988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Blind to Competition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80760" y="15910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B0"/>
                </a:solidFill>
              </a:rPr>
              <a:t>Most skip competitor research until it's too late — launching into saturated markets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46120" y="2240280"/>
            <a:ext cx="2606040" cy="1051560"/>
          </a:xfrm>
          <a:prstGeom prst="rect">
            <a:avLst/>
          </a:prstGeom>
          <a:solidFill>
            <a:srgbClr val="1E1040"/>
          </a:solidFill>
          <a:ln w="12700">
            <a:solidFill>
              <a:srgbClr val="FF6B6B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46120" y="23134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246120" y="262432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 Investor Ready Pitch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46120" y="282549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B0"/>
                </a:solidFill>
              </a:rPr>
              <a:t>Great ideas die because founders can't communicate their value to investors clearly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80760" y="2240280"/>
            <a:ext cx="2606040" cy="1051560"/>
          </a:xfrm>
          <a:prstGeom prst="rect">
            <a:avLst/>
          </a:prstGeom>
          <a:solidFill>
            <a:srgbClr val="1E1040"/>
          </a:solidFill>
          <a:ln w="12700">
            <a:solidFill>
              <a:srgbClr val="FF6B6B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80760" y="23134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80760" y="262432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Weak Brand Identity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80760" y="282549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B0"/>
                </a:solidFill>
              </a:rPr>
              <a:t>Poor branding makes startups look amateur — killing trust before the first customer arrives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46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93D"/>
                </a:solidFill>
              </a:rPr>
              <a:t>💡  Battle-Bot solves ALL of these — automatically, in seconds.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828800"/>
            <a:ext cx="4572000" cy="3657600"/>
          </a:xfrm>
          <a:prstGeom prst="ellipse">
            <a:avLst/>
          </a:prstGeom>
          <a:solidFill>
            <a:srgbClr val="667EEA">
              <a:alpha val="14000"/>
            </a:srgbClr>
          </a:solidFill>
          <a:ln w="12700">
            <a:solidFill>
              <a:srgbClr val="667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92608"/>
            <a:ext cx="54864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67EEA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5303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⚔️ Startup Battle-Bot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87782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090B0"/>
                </a:solidFill>
              </a:rPr>
              <a:t>An AI-driven validation platform that transforms raw business ideas into structured, professional frameworks — powered by Groq / Gemini LLMs and built on Streamlit.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" y="1481328"/>
            <a:ext cx="4114800" cy="1572768"/>
          </a:xfrm>
          <a:prstGeom prst="rect">
            <a:avLst/>
          </a:prstGeom>
          <a:solidFill>
            <a:srgbClr val="1E1040"/>
          </a:solidFill>
          <a:ln w="12700">
            <a:solidFill>
              <a:srgbClr val="FF6B6B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481328"/>
            <a:ext cx="64008" cy="15727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5910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⚔️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78992" y="159105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10-Point Battle Diagnostic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8992" y="193852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90B0"/>
                </a:solidFill>
              </a:rPr>
              <a:t>Brutally honest AI analysis across Problem Clarity, Revenue Model, Market Size, Competitive Moat and 6 more critical startup dimensions. Each scored 1–10.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481328"/>
            <a:ext cx="4114800" cy="1572768"/>
          </a:xfrm>
          <a:prstGeom prst="rect">
            <a:avLst/>
          </a:prstGeom>
          <a:solidFill>
            <a:srgbClr val="1E1040"/>
          </a:solidFill>
          <a:ln w="12700">
            <a:solidFill>
              <a:srgbClr val="4D96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1481328"/>
            <a:ext cx="64008" cy="1572768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5910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468112" y="159105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9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Competitor Research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68112" y="193852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90B0"/>
                </a:solidFill>
              </a:rPr>
              <a:t>AI maps the competitive landscape — identifying Direct, Indirect and Potential competitors with strengths, weaknesses and blue-ocean opportunities.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3200400"/>
            <a:ext cx="4114800" cy="1572768"/>
          </a:xfrm>
          <a:prstGeom prst="rect">
            <a:avLst/>
          </a:prstGeom>
          <a:solidFill>
            <a:srgbClr val="1E1040"/>
          </a:solidFill>
          <a:ln w="12700">
            <a:solidFill>
              <a:srgbClr val="A78BFA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3200400"/>
            <a:ext cx="64008" cy="15727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3310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078992" y="33101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 Identity Generator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36576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90B0"/>
                </a:solidFill>
              </a:rPr>
              <a:t>Instant brand name, tagline, color palette, logo concept, brand story, digital handles and target persona — all in one click.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45152" y="3200400"/>
            <a:ext cx="4114800" cy="1572768"/>
          </a:xfrm>
          <a:prstGeom prst="rect">
            <a:avLst/>
          </a:prstGeom>
          <a:solidFill>
            <a:srgbClr val="1E1040"/>
          </a:solidFill>
          <a:ln w="12700">
            <a:solidFill>
              <a:srgbClr val="6BCB77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45152" y="3200400"/>
            <a:ext cx="64008" cy="1572768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3310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468112" y="33101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CB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Investor Pitch Deck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68112" y="36576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90B0"/>
                </a:solidFill>
              </a:rPr>
              <a:t>Professional 5-slide Sequoia-structured pitch deck with elevator pitch, market data, business model, and a compelling investor hook.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3200400"/>
            <a:ext cx="4572000" cy="2743200"/>
          </a:xfrm>
          <a:prstGeom prst="ellipse">
            <a:avLst/>
          </a:prstGeom>
          <a:solidFill>
            <a:srgbClr val="6BCB77">
              <a:alpha val="10000"/>
            </a:srgbClr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54864" cy="45720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28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CB77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4754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idea to investor-ready in 5 steps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029968" y="1828800"/>
            <a:ext cx="91440" cy="54864"/>
          </a:xfrm>
          <a:prstGeom prst="rect">
            <a:avLst/>
          </a:prstGeom>
          <a:solidFill>
            <a:srgbClr val="606080"/>
          </a:solidFill>
          <a:ln w="12700">
            <a:solidFill>
              <a:srgbClr val="60608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1572768" cy="3520440"/>
          </a:xfrm>
          <a:prstGeom prst="rect">
            <a:avLst/>
          </a:prstGeom>
          <a:solidFill>
            <a:srgbClr val="1E1040"/>
          </a:solidFill>
          <a:ln w="12700">
            <a:solidFill>
              <a:srgbClr val="FF6B6B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9264" y="1078992"/>
            <a:ext cx="548640" cy="5486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30428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 Idea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90B0"/>
                </a:solidFill>
              </a:rPr>
              <a:t>Type your startup concept in plain language. Any idea, any industry.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4443984"/>
            <a:ext cx="1572768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94176" y="1828800"/>
            <a:ext cx="91440" cy="54864"/>
          </a:xfrm>
          <a:prstGeom prst="rect">
            <a:avLst/>
          </a:prstGeom>
          <a:solidFill>
            <a:srgbClr val="606080"/>
          </a:solidFill>
          <a:ln w="12700">
            <a:solidFill>
              <a:srgbClr val="60608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21408" y="960120"/>
            <a:ext cx="1572768" cy="3520440"/>
          </a:xfrm>
          <a:prstGeom prst="rect">
            <a:avLst/>
          </a:prstGeom>
          <a:solidFill>
            <a:srgbClr val="1E1040"/>
          </a:solidFill>
          <a:ln w="12700">
            <a:solidFill>
              <a:srgbClr val="FFD93D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33472" y="1078992"/>
            <a:ext cx="548640" cy="548640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3472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21408" y="17373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⚔️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194560" y="230428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 Diagnostic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12848" y="274320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90B0"/>
                </a:solidFill>
              </a:rPr>
              <a:t>10-point AI analysis scores your idea across critical VC criteria.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121408" y="4443984"/>
            <a:ext cx="1572768" cy="36576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58384" y="1828800"/>
            <a:ext cx="91440" cy="54864"/>
          </a:xfrm>
          <a:prstGeom prst="rect">
            <a:avLst/>
          </a:prstGeom>
          <a:solidFill>
            <a:srgbClr val="606080"/>
          </a:solidFill>
          <a:ln w="12700">
            <a:solidFill>
              <a:srgbClr val="60608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85616" y="960120"/>
            <a:ext cx="1572768" cy="3520440"/>
          </a:xfrm>
          <a:prstGeom prst="rect">
            <a:avLst/>
          </a:prstGeom>
          <a:solidFill>
            <a:srgbClr val="1E1040"/>
          </a:solidFill>
          <a:ln w="12700">
            <a:solidFill>
              <a:srgbClr val="4D96FF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97680" y="1078992"/>
            <a:ext cx="548640" cy="548640"/>
          </a:xfrm>
          <a:prstGeom prst="ellipse">
            <a:avLst/>
          </a:prstGeom>
          <a:solidFill>
            <a:srgbClr val="4D96FF"/>
          </a:solidFill>
          <a:ln w="12700">
            <a:solidFill>
              <a:srgbClr val="4D96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85616" y="17373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858768" y="230428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9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Market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77056" y="274320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90B0"/>
                </a:solidFill>
              </a:rPr>
              <a:t>AI identifies competitors, gaps and blue-ocean opportunities.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85616" y="4443984"/>
            <a:ext cx="1572768" cy="36576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22592" y="1828800"/>
            <a:ext cx="91440" cy="54864"/>
          </a:xfrm>
          <a:prstGeom prst="rect">
            <a:avLst/>
          </a:prstGeom>
          <a:solidFill>
            <a:srgbClr val="606080"/>
          </a:solidFill>
          <a:ln w="12700">
            <a:solidFill>
              <a:srgbClr val="60608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49824" y="960120"/>
            <a:ext cx="1572768" cy="3520440"/>
          </a:xfrm>
          <a:prstGeom prst="rect">
            <a:avLst/>
          </a:prstGeom>
          <a:solidFill>
            <a:srgbClr val="1E1040"/>
          </a:solidFill>
          <a:ln w="12700">
            <a:solidFill>
              <a:srgbClr val="A78BFA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61888" y="1078992"/>
            <a:ext cx="548640" cy="5486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61888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49824" y="17373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522976" y="230428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Brand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41264" y="274320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90B0"/>
                </a:solidFill>
              </a:rPr>
              <a:t>Generate a complete brand identity: name, colors, tagline &amp; more.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49824" y="4443984"/>
            <a:ext cx="1572768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14032" y="960120"/>
            <a:ext cx="1572768" cy="3520440"/>
          </a:xfrm>
          <a:prstGeom prst="rect">
            <a:avLst/>
          </a:prstGeom>
          <a:solidFill>
            <a:srgbClr val="1E1040"/>
          </a:solidFill>
          <a:ln w="12700">
            <a:solidFill>
              <a:srgbClr val="6BCB77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626096" y="1078992"/>
            <a:ext cx="548640" cy="548640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26096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14032" y="17373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7187184" y="230428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CB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 Pitch Deck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205472" y="274320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90B0"/>
                </a:solidFill>
              </a:rPr>
              <a:t>Get a Sequoia-structure 5-slide investor deck with speaker notes.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114032" y="4443984"/>
            <a:ext cx="1572768" cy="36576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200400"/>
          </a:xfrm>
          <a:prstGeom prst="ellipse">
            <a:avLst/>
          </a:prstGeom>
          <a:solidFill>
            <a:srgbClr val="FFD93D">
              <a:alpha val="10000"/>
            </a:srgbClr>
          </a:solidFill>
          <a:ln w="12700">
            <a:solidFill>
              <a:srgbClr val="FFD9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54864" cy="45720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28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93D"/>
                </a:solidFill>
              </a:rPr>
              <a:t>UNDER THE HOOD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4754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 &amp; Prompt Engineering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</a:rPr>
              <a:t>🛠️  Tech Stack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4023360" cy="566928"/>
          </a:xfrm>
          <a:prstGeom prst="rect">
            <a:avLst/>
          </a:prstGeom>
          <a:solidFill>
            <a:srgbClr val="1E1040"/>
          </a:solidFill>
          <a:ln w="12700">
            <a:solidFill>
              <a:srgbClr val="667EEA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89888"/>
            <a:ext cx="54864" cy="566928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38988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4356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EEA"/>
                </a:solidFill>
              </a:rPr>
              <a:t>Groq 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6642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90B0"/>
                </a:solidFill>
              </a:rPr>
              <a:t>llama-3.3-70b — LLM engine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4023360" cy="566928"/>
          </a:xfrm>
          <a:prstGeom prst="rect">
            <a:avLst/>
          </a:prstGeom>
          <a:solidFill>
            <a:srgbClr val="1E1040"/>
          </a:solidFill>
          <a:ln w="12700">
            <a:solidFill>
              <a:srgbClr val="4D96FF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057400"/>
            <a:ext cx="54864" cy="566928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0574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1031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96FF"/>
                </a:solidFill>
              </a:rPr>
              <a:t>Streamlit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3317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90B0"/>
                </a:solidFill>
              </a:rPr>
              <a:t>Python web framework for the UI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4023360" cy="566928"/>
          </a:xfrm>
          <a:prstGeom prst="rect">
            <a:avLst/>
          </a:prstGeom>
          <a:solidFill>
            <a:srgbClr val="1E1040"/>
          </a:solidFill>
          <a:ln w="12700">
            <a:solidFill>
              <a:srgbClr val="6BCB77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724912"/>
            <a:ext cx="54864" cy="566928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72491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27706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CB77"/>
                </a:solidFill>
              </a:rPr>
              <a:t>Secrets.toml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29992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90B0"/>
                </a:solidFill>
              </a:rPr>
              <a:t>Encrypted credential management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392424"/>
            <a:ext cx="4023360" cy="566928"/>
          </a:xfrm>
          <a:prstGeom prst="rect">
            <a:avLst/>
          </a:prstGeom>
          <a:solidFill>
            <a:srgbClr val="1E1040"/>
          </a:solidFill>
          <a:ln w="12700">
            <a:solidFill>
              <a:srgbClr val="FF6B6B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392424"/>
            <a:ext cx="54864" cy="56692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39242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34381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ngrok Tunnel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6667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90B0"/>
                </a:solidFill>
              </a:rPr>
              <a:t>Public URL via secure reverse proxy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4059936"/>
            <a:ext cx="4023360" cy="566928"/>
          </a:xfrm>
          <a:prstGeom prst="rect">
            <a:avLst/>
          </a:prstGeom>
          <a:solidFill>
            <a:srgbClr val="1E1040"/>
          </a:solidFill>
          <a:ln w="12700">
            <a:solidFill>
              <a:srgbClr val="FFD93D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059936"/>
            <a:ext cx="54864" cy="566928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405993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🐍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05840" y="41056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</a:rPr>
              <a:t>Python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43342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90B0"/>
                </a:solidFill>
              </a:rPr>
              <a:t>Core logic, parsing &amp; state mgmt.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63440" y="9601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🧠  Prompt Engineering Techniques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63440" y="1389888"/>
            <a:ext cx="4114800" cy="566928"/>
          </a:xfrm>
          <a:prstGeom prst="rect">
            <a:avLst/>
          </a:prstGeom>
          <a:solidFill>
            <a:srgbClr val="1E1040"/>
          </a:solidFill>
          <a:ln w="127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1389888"/>
            <a:ext cx="54864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138988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21808" y="143560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Chain-of-Thought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21808" y="1664208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90B0"/>
                </a:solidFill>
              </a:rPr>
              <a:t>Step-by-step VC-style reasoning per criterion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2057400"/>
            <a:ext cx="4114800" cy="566928"/>
          </a:xfrm>
          <a:prstGeom prst="rect">
            <a:avLst/>
          </a:prstGeom>
          <a:solidFill>
            <a:srgbClr val="1E1040"/>
          </a:solidFill>
          <a:ln w="12700">
            <a:solidFill>
              <a:srgbClr val="4D96FF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2057400"/>
            <a:ext cx="54864" cy="566928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20574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321808" y="2103120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96FF"/>
                </a:solidFill>
              </a:rPr>
              <a:t>Structured JSON Out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21808" y="2331720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90B0"/>
                </a:solidFill>
              </a:rPr>
              <a:t>Enforced schema for reliable parsing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63440" y="2724912"/>
            <a:ext cx="4114800" cy="566928"/>
          </a:xfrm>
          <a:prstGeom prst="rect">
            <a:avLst/>
          </a:prstGeom>
          <a:solidFill>
            <a:srgbClr val="1E1040"/>
          </a:solidFill>
          <a:ln w="12700">
            <a:solidFill>
              <a:srgbClr val="6BCB77">
                <a:alpha val="3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2724912"/>
            <a:ext cx="54864" cy="566928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272491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321808" y="277063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CB77"/>
                </a:solidFill>
              </a:rPr>
              <a:t>Dynamic Templates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21808" y="2999232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90B0"/>
                </a:solidFill>
              </a:rPr>
              <a:t>Idea injected into context-rich prompts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63440" y="3392424"/>
            <a:ext cx="4114800" cy="566928"/>
          </a:xfrm>
          <a:prstGeom prst="rect">
            <a:avLst/>
          </a:prstGeom>
          <a:solidFill>
            <a:srgbClr val="1E1040"/>
          </a:solidFill>
          <a:ln w="12700">
            <a:solidFill>
              <a:srgbClr val="FF6B6B">
                <a:alpha val="3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3392424"/>
            <a:ext cx="54864" cy="56692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3168" y="339242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5321808" y="3438144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Few-Shot Prompting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21808" y="3666744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90B0"/>
                </a:solidFill>
              </a:rPr>
              <a:t>Examples embedded to guide output format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63440" y="4059936"/>
            <a:ext cx="4114800" cy="566928"/>
          </a:xfrm>
          <a:prstGeom prst="rect">
            <a:avLst/>
          </a:prstGeom>
          <a:solidFill>
            <a:srgbClr val="1E1040"/>
          </a:solidFill>
          <a:ln w="12700">
            <a:solidFill>
              <a:srgbClr val="FFD93D">
                <a:alpha val="3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63440" y="4059936"/>
            <a:ext cx="54864" cy="566928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73168" y="405993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5321808" y="410565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</a:rPr>
              <a:t>Secrets (TOML)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321808" y="4334256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90B0"/>
                </a:solidFill>
              </a:rPr>
              <a:t>API keys stored encrypted, never hard-coded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371600"/>
            <a:ext cx="3657600" cy="3200400"/>
          </a:xfrm>
          <a:prstGeom prst="ellipse">
            <a:avLst/>
          </a:prstGeom>
          <a:solidFill>
            <a:srgbClr val="6BCB77">
              <a:alpha val="13000"/>
            </a:srgbClr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2743200"/>
          </a:xfrm>
          <a:prstGeom prst="ellipse">
            <a:avLst/>
          </a:prstGeom>
          <a:solidFill>
            <a:srgbClr val="4D96FF">
              <a:alpha val="13000"/>
            </a:srgbClr>
          </a:solidFill>
          <a:ln w="12700">
            <a:solidFill>
              <a:srgbClr val="4D9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54864" cy="45720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28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CB77"/>
                </a:solidFill>
              </a:rPr>
              <a:t>CYBERSECURITY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754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Security by Design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1792" y="8686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90B0"/>
                </a:solidFill>
              </a:rPr>
              <a:t>Battle-Bot implements production-grade security practices from the ground up, following the same model used by professional Streamlit cloud deployments.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444752"/>
            <a:ext cx="2743200" cy="1417320"/>
          </a:xfrm>
          <a:prstGeom prst="rect">
            <a:avLst/>
          </a:prstGeom>
          <a:solidFill>
            <a:srgbClr val="1E1040"/>
          </a:solidFill>
          <a:ln w="12700">
            <a:solidFill>
              <a:srgbClr val="6BCB77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444752"/>
            <a:ext cx="2743200" cy="54864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5361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94767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CB77"/>
                </a:solidFill>
              </a:rPr>
              <a:t>Streamlit Secrets (TOML)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B0"/>
                </a:solidFill>
              </a:rPr>
              <a:t>API keys stored in .streamlit/secrets.toml — never hard-coded in source code. This mirrors production cloud security models.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82112" y="1444752"/>
            <a:ext cx="2743200" cy="1417320"/>
          </a:xfrm>
          <a:prstGeom prst="rect">
            <a:avLst/>
          </a:prstGeom>
          <a:solidFill>
            <a:srgbClr val="1E1040"/>
          </a:solidFill>
          <a:ln w="12700">
            <a:solidFill>
              <a:srgbClr val="4D96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2112" y="1444752"/>
            <a:ext cx="2743200" cy="54864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15361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🙈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91840" y="194767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96FF"/>
                </a:solidFill>
              </a:rPr>
              <a:t>Hidden Input Collection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73552" y="22219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B0"/>
                </a:solidFill>
              </a:rPr>
              <a:t>getpass() is used in Colab so keys are entered securely — never visible on screen, never in Colab history.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08192" y="1444752"/>
            <a:ext cx="2743200" cy="1417320"/>
          </a:xfrm>
          <a:prstGeom prst="rect">
            <a:avLst/>
          </a:prstGeom>
          <a:solidFill>
            <a:srgbClr val="1E1040"/>
          </a:solidFill>
          <a:ln w="12700">
            <a:solidFill>
              <a:srgbClr val="FFD93D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08192" y="1444752"/>
            <a:ext cx="274320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15361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17920" y="194767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93D"/>
                </a:solidFill>
              </a:rPr>
              <a:t>Environment Variable Isolation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99632" y="22219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B0"/>
                </a:solidFill>
              </a:rPr>
              <a:t>Keys stored in os.environ during runtime only — never written to disk in plain text, never logged or printed.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6032" y="3044952"/>
            <a:ext cx="2743200" cy="1417320"/>
          </a:xfrm>
          <a:prstGeom prst="rect">
            <a:avLst/>
          </a:prstGeom>
          <a:solidFill>
            <a:srgbClr val="1E1040"/>
          </a:solidFill>
          <a:ln w="12700">
            <a:solidFill>
              <a:srgbClr val="FF6B6B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3044952"/>
            <a:ext cx="27432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1363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65760" y="354787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No Hard-Coded Credentials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" y="38221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B0"/>
                </a:solidFill>
              </a:rPr>
              <a:t>Zero credentials in source code. The app raises RuntimeError immediately if secrets are missing rather than failing silently.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82112" y="3044952"/>
            <a:ext cx="2743200" cy="1417320"/>
          </a:xfrm>
          <a:prstGeom prst="rect">
            <a:avLst/>
          </a:prstGeom>
          <a:solidFill>
            <a:srgbClr val="1E1040"/>
          </a:solidFill>
          <a:ln w="12700">
            <a:solidFill>
              <a:srgbClr val="A78BFA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82112" y="3044952"/>
            <a:ext cx="2743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82112" y="31363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291840" y="354787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Session-Scoped State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73552" y="38221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B0"/>
                </a:solidFill>
              </a:rPr>
              <a:t>All user data exists only in Streamlit session_state — isolated per user, cleared when session ends.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08192" y="3044952"/>
            <a:ext cx="2743200" cy="1417320"/>
          </a:xfrm>
          <a:prstGeom prst="rect">
            <a:avLst/>
          </a:prstGeom>
          <a:solidFill>
            <a:srgbClr val="1E1040"/>
          </a:solidFill>
          <a:ln w="12700">
            <a:solidFill>
              <a:srgbClr val="667EEA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08192" y="3044952"/>
            <a:ext cx="2743200" cy="54864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08192" y="31363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217920" y="354787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7EEA"/>
                </a:solidFill>
              </a:rPr>
              <a:t>Secure Tunnel (ngrok)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99632" y="38221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B0"/>
                </a:solidFill>
              </a:rPr>
              <a:t>Authenticated ngrok tunnel with auth token — prevents unauthorized tunnel creation and rate-abuse.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1371600"/>
            <a:ext cx="4572000" cy="3657600"/>
          </a:xfrm>
          <a:prstGeom prst="ellipse">
            <a:avLst/>
          </a:prstGeom>
          <a:solidFill>
            <a:srgbClr val="4D96FF">
              <a:alpha val="10000"/>
            </a:srgbClr>
          </a:solidFill>
          <a:ln w="12700">
            <a:solidFill>
              <a:srgbClr val="4D9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54864" cy="457200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28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6FF"/>
                </a:solidFill>
              </a:rPr>
              <a:t>LIVE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4754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 it in action — right now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solidFill>
            <a:srgbClr val="1A0A2E"/>
          </a:solidFill>
          <a:ln w="12700">
            <a:solidFill>
              <a:srgbClr val="667E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0332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EEA"/>
                </a:solidFill>
              </a:rPr>
              <a:t>Demo Idea: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103327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090B0"/>
                </a:solidFill>
              </a:rPr>
              <a:t>"A mobile app connecting local farmers directly with urban consumers using AI-powered pricing and delivery optimization"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1005840" cy="475488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1907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81328" y="171907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65960" y="17465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Enter Idea on Home Page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65960" y="196596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B0"/>
                </a:solidFill>
              </a:rPr>
              <a:t>→  Idea saved to session state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212848"/>
            <a:ext cx="8412480" cy="0"/>
          </a:xfrm>
          <a:prstGeom prst="line">
            <a:avLst/>
          </a:prstGeom>
          <a:noFill/>
          <a:ln w="6350">
            <a:solidFill>
              <a:srgbClr val="60608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40864"/>
            <a:ext cx="1005840" cy="475488"/>
          </a:xfrm>
          <a:prstGeom prst="rect">
            <a:avLst/>
          </a:prstGeom>
          <a:solidFill>
            <a:srgbClr val="FFD93D">
              <a:alpha val="30000"/>
            </a:srgbClr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4086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81328" y="2340864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⚔️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65960" y="23682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Run Battle Diagnostic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65960" y="2587752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B0"/>
                </a:solidFill>
              </a:rPr>
              <a:t>→  10 scores + verdict + strengths/risks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8412480" cy="0"/>
          </a:xfrm>
          <a:prstGeom prst="line">
            <a:avLst/>
          </a:prstGeom>
          <a:noFill/>
          <a:ln w="6350">
            <a:solidFill>
              <a:srgbClr val="60608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62656"/>
            <a:ext cx="1005840" cy="475488"/>
          </a:xfrm>
          <a:prstGeom prst="rect">
            <a:avLst/>
          </a:prstGeom>
          <a:solidFill>
            <a:srgbClr val="4D96FF">
              <a:alpha val="30000"/>
            </a:srgbClr>
          </a:solidFill>
          <a:ln w="12700">
            <a:solidFill>
              <a:srgbClr val="4D9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6265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81328" y="2962656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965960" y="2990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Competitor Research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65960" y="3209544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B0"/>
                </a:solidFill>
              </a:rPr>
              <a:t>→  5 competitors mapped with gaps identified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456432"/>
            <a:ext cx="8412480" cy="0"/>
          </a:xfrm>
          <a:prstGeom prst="line">
            <a:avLst/>
          </a:prstGeom>
          <a:noFill/>
          <a:ln w="6350">
            <a:solidFill>
              <a:srgbClr val="60608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584448"/>
            <a:ext cx="1005840" cy="475488"/>
          </a:xfrm>
          <a:prstGeom prst="rect">
            <a:avLst/>
          </a:prstGeom>
          <a:solidFill>
            <a:srgbClr val="A78BFA">
              <a:alpha val="3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58444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481328" y="358444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965960" y="36118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Generate Brand Identity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65960" y="3831336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B0"/>
                </a:solidFill>
              </a:rPr>
              <a:t>→  Brand name, colors, logo concept, handles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078224"/>
            <a:ext cx="8412480" cy="0"/>
          </a:xfrm>
          <a:prstGeom prst="line">
            <a:avLst/>
          </a:prstGeom>
          <a:noFill/>
          <a:ln w="6350">
            <a:solidFill>
              <a:srgbClr val="606080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206240"/>
            <a:ext cx="1005840" cy="475488"/>
          </a:xfrm>
          <a:prstGeom prst="rect">
            <a:avLst/>
          </a:prstGeom>
          <a:solidFill>
            <a:srgbClr val="6BCB77">
              <a:alpha val="30000"/>
            </a:srgbClr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20624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481328" y="420624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965960" y="42336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 Pitch Deck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965960" y="445312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B0"/>
                </a:solidFill>
              </a:rPr>
              <a:t>→  5-slide investor deck with speaker notes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4572000"/>
          </a:xfrm>
          <a:prstGeom prst="ellipse">
            <a:avLst/>
          </a:prstGeom>
          <a:solidFill>
            <a:srgbClr val="667EEA">
              <a:alpha val="16000"/>
            </a:srgbClr>
          </a:solidFill>
          <a:ln w="12700">
            <a:solidFill>
              <a:srgbClr val="667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1828800"/>
            <a:ext cx="5486400" cy="4572000"/>
          </a:xfrm>
          <a:prstGeom prst="ellipse">
            <a:avLst/>
          </a:prstGeom>
          <a:solidFill>
            <a:srgbClr val="FF6B6B">
              <a:alpha val="16000"/>
            </a:srgbClr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3200400"/>
            <a:ext cx="3657600" cy="2743200"/>
          </a:xfrm>
          <a:prstGeom prst="ellipse">
            <a:avLst/>
          </a:prstGeom>
          <a:solidFill>
            <a:srgbClr val="6BCB77">
              <a:alpha val="10000"/>
            </a:srgbClr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000000"/>
                </a:solidFill>
              </a:rPr>
              <a:t>⚔️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090B0"/>
                </a:solidFill>
              </a:rPr>
              <a:t>Built with ❤️ for the SAII ACM Prompt Engineering Workshop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1965960" cy="320040"/>
          </a:xfrm>
          <a:prstGeom prst="rect">
            <a:avLst/>
          </a:prstGeom>
          <a:solidFill>
            <a:srgbClr val="FF6B6B">
              <a:alpha val="28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803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10-Point Diagnostic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0" y="2880360"/>
            <a:ext cx="1965960" cy="320040"/>
          </a:xfrm>
          <a:prstGeom prst="rect">
            <a:avLst/>
          </a:prstGeom>
          <a:solidFill>
            <a:srgbClr val="4D96FF">
              <a:alpha val="28000"/>
            </a:srgbClr>
          </a:solidFill>
          <a:ln w="12700">
            <a:solidFill>
              <a:srgbClr val="4D9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8803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Competitor Research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2880360"/>
            <a:ext cx="1965960" cy="320040"/>
          </a:xfrm>
          <a:prstGeom prst="rect">
            <a:avLst/>
          </a:prstGeom>
          <a:solidFill>
            <a:srgbClr val="A78BFA">
              <a:alpha val="2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8803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Brand Identity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675120" y="2880360"/>
            <a:ext cx="1965960" cy="320040"/>
          </a:xfrm>
          <a:prstGeom prst="rect">
            <a:avLst/>
          </a:prstGeom>
          <a:solidFill>
            <a:srgbClr val="6BCB77">
              <a:alpha val="28000"/>
            </a:srgbClr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8803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Pitch Deck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273552"/>
            <a:ext cx="1965960" cy="320040"/>
          </a:xfrm>
          <a:prstGeom prst="rect">
            <a:avLst/>
          </a:prstGeom>
          <a:solidFill>
            <a:srgbClr val="667EEA">
              <a:alpha val="28000"/>
            </a:srgbClr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735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Groq LLM API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0" y="3273552"/>
            <a:ext cx="1965960" cy="320040"/>
          </a:xfrm>
          <a:prstGeom prst="rect">
            <a:avLst/>
          </a:prstGeom>
          <a:solidFill>
            <a:srgbClr val="FFD93D">
              <a:alpha val="28000"/>
            </a:srgbClr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32735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Streamlit Secrets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17720" y="3273552"/>
            <a:ext cx="1965960" cy="320040"/>
          </a:xfrm>
          <a:prstGeom prst="rect">
            <a:avLst/>
          </a:prstGeom>
          <a:solidFill>
            <a:srgbClr val="FF6B6B">
              <a:alpha val="28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2735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ngrok Tunnel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75120" y="3273552"/>
            <a:ext cx="1965960" cy="320040"/>
          </a:xfrm>
          <a:prstGeom prst="rect">
            <a:avLst/>
          </a:prstGeom>
          <a:solidFill>
            <a:srgbClr val="4D96FF">
              <a:alpha val="28000"/>
            </a:srgbClr>
          </a:solidFill>
          <a:ln w="12700">
            <a:solidFill>
              <a:srgbClr val="4D9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32735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Chain-of-Thought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6080"/>
                </a:solidFill>
              </a:rPr>
              <a:t>⚔️  Startup Battle-Bot  ·  SAII ACM 2026  ·  Powered by Groq llama-3.3-70b  ·  Built on Streamlit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Battle-Bot</dc:title>
  <dc:subject>PptxGenJS Presentation</dc:subject>
  <dc:creator>SAII ACM Workshop 2026</dc:creator>
  <cp:lastModifiedBy>SAII ACM Workshop 2026</cp:lastModifiedBy>
  <cp:revision>1</cp:revision>
  <dcterms:created xsi:type="dcterms:W3CDTF">2026-05-03T05:55:10Z</dcterms:created>
  <dcterms:modified xsi:type="dcterms:W3CDTF">2026-05-03T05:55:10Z</dcterms:modified>
</cp:coreProperties>
</file>